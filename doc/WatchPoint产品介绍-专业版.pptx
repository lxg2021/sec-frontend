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开场:WatchPoint 是面向企业终端安全与安全运营场景的一体化平台。今天用约 30 分钟,从安全运营的实际问题出发,完整介绍产品定位、核心能力与运营闭环。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先对齐痛点:三个断层。信号多但还原不出攻击事实;工具割裂导致证据链断裂;大规模操作不可控、不可审计。这三点正是 WatchPoint 的设计原点。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WatchPoint 的价值主张:一句话——把信号还原为攻击事实,把事实转化为响应行动。四个支柱:以案件为中心、统一证据链、闭环处置、全程可审计。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核心叙事:以案件为中心的闭环。五个阶段——发现、调查、取证、处置、审计——全部挂载在案件上,AI 贯穿辅助。后面的每个功能章节,都是这个闭环上的一环。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架构自底向上:终端 Agent 采集行为;数据层基于 Velociraptor 存储遥测与证据;能力层七大模块构成运营矩阵;管控层用访问控制和审计保障规模化操作。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能力地图总览:九大能力域。其中攻击溯源、IOC、取证、处置、AI 是本次介绍的核心;基线与漏洞把风险治理前移;主机资产是底座;控制与审计保障规模化运营。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运营的起点是终端可信接入。WatchPoint 要求先审批再纳管:组织结构三级编排,支持 YAML 导入;主机审批页可筛选未分组、无负责人、心跳异常的主机。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主机与资产是运营底座:主机列表看在线状态与组织归属;硬件按型号指纹聚合(54 型号/100 设备);软件清单记录安装路径与厂商。资产数据与风险、IOC、取证、处置全部打通。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基线概览页:当前 windows10-X 基线合规率 79.86%,417 个检查项中 83 项不合规、7 项高风险。风险按高中低分级,支持按分类下钻,并提供立即扫描与一键修复入口。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基线三步走:定义——从标准模板 417 项中勾选生成自定义基线;下发——设定扫描计划并按组织树选择目标;检查——不合规项可下钻到检查项说明与具体主机,形成治理闭环。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漏洞仪表板:Windows 与 Linux 双平台。当前 10 个补丁已装 8 个,关键漏洞 5 项;高风险主机 TOP 榜直接列出每台主机缺哪些补丁,例如 OpenSSL 远程代码执行修复。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修复闭环:左图是单台主机的补丁详情——OpenSSL RCE 等关键补丁标注需安装/失败状态;右图是安装任务追踪——任务级进度、逐主机结果;状态机覆盖需安装、待处理、失败、已安装。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进入核心章节:攻击溯源。这是 WatchPoint 的灵魂——用六页连续叙事,从攻击概览一路走到图谱、故事线和 IOC 提取。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攻击概览:581 次攻击活动命中 216 条规则,波及 7 台主机。Stage 分布图展示各攻击阶段的主机数量,ATT&amp;CK TOP10 与风险主机 TOP10 帮助分析师确定优先级。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案件工作流中心:左侧队列 346 个案件;顶部阶段条显示发现、调查、取证、处置、关闭五个阶段(聚焦框处);当前 token impersonation/theft 案件推进到处置阶段,系统给出阶段建议与检查清单。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ATT&amp;CK 映射页:14 个战术阶段的命中数一目了然——防御规避 512 次、持久化 53 次;下方攻击场景列表每条都带规则数、主机数、事件数,点击可进入溯源。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溯源详情页核心是攻击关系图谱(右侧聚焦):winword.exe 连接 20.0.40.208:8080、创建两个 DLL、生成 calc.exe,7 节点 6 条边。顶部四面板(左侧聚焦)同步给出研判结论:已确认事实 3 条、攻击怀疑 2 条、待补充证据 3 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节点下钻放大:右侧是 winword.exe 的完整档案——PID、命令行里直接能看到远程 URL 参数;安全信息里两个关键信号:未签名 + 隐藏窗口。左图虚线标注它在图谱中的位置。每一个结论都有原始证据支撑。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攻击故事页:从 11:55:55 cmd 启动 winword,到 11:56:07 完成网络连接,12 秒的攻击过程被拆成 4 个行为节点,每个都标注攻击阶段、ATT&amp;CK 技术和原始命令行。底部还有 AI 调查助手可追问。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IOC 两段式:在图谱中圈选或自动提取 IOC(这里是 IP 20.0.40.208 和三个文件 MD5);进入情报验证页做预检——本地情报 + 联网情报双通道,5 个 IOC 中 1 个恶意、1 个异常、1 个放行,判定依据包括置信度和白名单。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情报定位页:输入 MD5,立即得到风险分 95、置信度 95%、本地情报已命中的结论;本地事件页列出 4 条命中记录(哪台主机、哪个进程、什么时间);定位图谱把 IOC 的关联实体图形化,同样支持下钻。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取证概览:取证能力构建在 Velociraptor 之上——当前 1 台终端在线、24 个工件可用;后端状态(CPU、内存、数据存储 39%)实时监控;最近的 Prefetch、NTUser、RDP 取证任务状态逐条可见。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工件配置页:232 个 Velociraptor 工件、30 个分类,每个工件有场景说明和性能提示;取证中心负责新建任务——选终端、选工件、配参数;任务执行后可下载结果,且与案件 ID 关联。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处置编排页:针对 winword 案件发起处置——目标是 calc.exe 结束进程;中间面板配置动作参数(是否终止子进程、是否强制结束);右侧提交检查确认无冲突后下发。底部处置清单逐目标展示执行状态。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处置概览:30 天处置趋势与类型分布(进程、文件、网络阻断);展开处置单可见 5 个目标的逐条结果——playload[1].dll 隔离文件已成功并获得权威缓解报告确认,其余目标状态与原因同样可查。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威胁分析:deepseek-v4-flash 模型 17.1 秒完成分析,给出严重等级与 85% 置信度;攻击链路 4 步每步都标注关联证据数量与置信度;需要强调的是——AI 是证据辅助研判,不替代分析师,每条结论都能点开看原始证据。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输出的下半部分:6 个威胁指标与案件的 IOC 体系一致;受影响资产精确到主机;4 条处置建议(隔离主机、分析 DLL、排查 20.0.40.208 的连接、审查进程事件)每条都带证据引用;最后还给出分析假设与局限,保持克制与透明。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访问控制采用三元组模型:访问主体(进程/Hash)+ 保护对象(文件/注册表/进程/网络)+ 行为规则(操作、处理方式、是否审计)。策略支持 0-255 优先级、版本管理,并按组织树下发——这是规模化操作可控的模型基础。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审计中心:90 天内 22 个下发事件——18 条命令下发、4 条策略下发;异常事件(失败、超时、拒绝)单独归集 10 项;每条记录含操作者、任务 ID、目标数量与逐目标执行结果。用户审计与变更审计同样覆盖,记录可导出。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总结:五个关键词——看得清、查得准、拿得到、处置得了、管得住。WatchPoint 用一体化平台覆盖事前治理、事中响应与全程管控。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结束页:感谢观看,后续可安排产品演示与 POC。品牌联系信息待市场团队补充。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417320"/>
            <a:ext cx="1280160" cy="8062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7048" y="260604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6EEF6"/>
                </a:solidFill>
                <a:latin typeface="Consolas"/>
                <a:ea typeface="Consolas"/>
                <a:cs typeface="Consolas"/>
              </a:rPr>
              <a:t>WatchPoint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6048" y="3520440"/>
            <a:ext cx="2286000" cy="32004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3703320"/>
            <a:ext cx="9144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以案件为中心的一体化终端安全运营平台</a:t>
            </a:r>
          </a:p>
          <a:p>
            <a:pPr algn="ctr"/>
            <a:r>
              <a:rPr sz="110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CASE-CENTRIC ENDPOINT SECURITY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攻击溯源 · IOC 情报 · 调查取证 · 处置响应 · AI 威胁分析 · 安全基线 · 漏洞防护 · 控制与审计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84455"/>
                </a:solidFill>
                <a:latin typeface="Consolas"/>
                <a:ea typeface="Consolas"/>
                <a:cs typeface="Consolas"/>
              </a:rPr>
              <a:t>THE CHALLENGE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终端安全运营,卡在三个断层上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告警海量、工具割裂、操作失控 —— 企业的终端越多,这三个问题越尖锐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91640"/>
            <a:ext cx="368503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3685032" cy="64008"/>
          </a:xfrm>
          <a:prstGeom prst="rect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4455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信号 ≠ 事实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1012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EDR、杀软、防火墙各自报警,信号海量却彼此孤立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2452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没人能回答:到底发生了什么?攻击走到哪一步?影响范围有多大?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1691640"/>
            <a:ext cx="368503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1104" y="1691640"/>
            <a:ext cx="3685032" cy="64008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96596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7773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7432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工具 ≠ 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31012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查杀、取证、处置分散在不同系统,靠人肉接力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422452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证据链在工具切换中断裂,响应动作慢半拍,攻击窗口被拉大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7" y="1691640"/>
            <a:ext cx="368503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0727" y="1691640"/>
            <a:ext cx="3685032" cy="64008"/>
          </a:xfrm>
          <a:prstGeom prst="rect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96596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7432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操作 ≠ 可控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31012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大批量终端上的查杀、隔离、配置变更缺少统一管控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422452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谁操作的、操作了什么、结果如何 —— 无法复核,安全运营自身成为风险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577840"/>
            <a:ext cx="11375136" cy="603504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705856"/>
            <a:ext cx="113751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E5A76"/>
                </a:solidFill>
                <a:latin typeface="微软雅黑"/>
                <a:ea typeface="微软雅黑"/>
                <a:cs typeface="微软雅黑"/>
              </a:rPr>
              <a:t>企业需要的不是更多单点工具,而是 从风险发现到处置审计的一体化安全运营能力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7048" y="1554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57400"/>
            <a:ext cx="981151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把零散的安全信号,还原为可验证的攻击事实;</a:t>
            </a:r>
          </a:p>
          <a:p>
            <a:pPr algn="ctr"/>
            <a:r>
              <a:rPr sz="26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把攻击事实,转化为可执行、可追踪的响应行动。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6048" y="4041648"/>
            <a:ext cx="2286000" cy="32004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4434840"/>
            <a:ext cx="2468880" cy="12344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61772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0BDE6"/>
                </a:solidFill>
                <a:latin typeface="微软雅黑"/>
                <a:ea typeface="微软雅黑"/>
                <a:cs typeface="微软雅黑"/>
              </a:rPr>
              <a:t>以案件为中心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029200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攻击、证据、动作
统一归入案件上下文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434840"/>
            <a:ext cx="2468880" cy="12344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461772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0BDE6"/>
                </a:solidFill>
                <a:latin typeface="微软雅黑"/>
                <a:ea typeface="微软雅黑"/>
                <a:cs typeface="微软雅黑"/>
              </a:rPr>
              <a:t>统一证据链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029200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行为·文件·进程·网络
同源关联可验证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434840"/>
            <a:ext cx="2468880" cy="12344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61772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0BDE6"/>
                </a:solidFill>
                <a:latin typeface="微软雅黑"/>
                <a:ea typeface="微软雅黑"/>
                <a:cs typeface="微软雅黑"/>
              </a:rPr>
              <a:t>闭环处置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029200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发现→调查→取证
→处置→审计一站式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4434840"/>
            <a:ext cx="2468880" cy="12344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61772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0BDE6"/>
                </a:solidFill>
                <a:latin typeface="微软雅黑"/>
                <a:ea typeface="微软雅黑"/>
                <a:cs typeface="微软雅黑"/>
              </a:rPr>
              <a:t>全程可审计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029200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每个操作有授权
有记录、有回执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SECURITY OPERATIONS LOOP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以案件为中心的统一安全运营闭环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所有安全信号汇入案件,所有运营动作从案件发起 —— 一个上下文,走完整个生命周期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2103120" cy="14630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15240">
            <a:solidFill>
              <a:srgbClr val="20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9224" y="2523744"/>
            <a:ext cx="274320" cy="274320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50545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风险发现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035808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攻击概览·基线·漏洞
风险与信号汇聚</a:t>
            </a:r>
          </a:p>
        </p:txBody>
      </p:sp>
      <p:sp>
        <p:nvSpPr>
          <p:cNvPr id="9" name="Chevron 8"/>
          <p:cNvSpPr/>
          <p:nvPr/>
        </p:nvSpPr>
        <p:spPr>
          <a:xfrm>
            <a:off x="2606039" y="2999232"/>
            <a:ext cx="237744" cy="219456"/>
          </a:xfrm>
          <a:prstGeom prst="chevron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43784" y="2377440"/>
            <a:ext cx="2103120" cy="14630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15240">
            <a:solidFill>
              <a:srgbClr val="1AA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90088" y="2523744"/>
            <a:ext cx="274320" cy="274320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50545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调查分析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3035808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案件工作流·ATT&amp;CK
图谱·攻击故事</a:t>
            </a:r>
          </a:p>
        </p:txBody>
      </p:sp>
      <p:sp>
        <p:nvSpPr>
          <p:cNvPr id="14" name="Chevron 13"/>
          <p:cNvSpPr/>
          <p:nvPr/>
        </p:nvSpPr>
        <p:spPr>
          <a:xfrm>
            <a:off x="4946904" y="2999232"/>
            <a:ext cx="237744" cy="219456"/>
          </a:xfrm>
          <a:prstGeom prst="chevron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84648" y="2377440"/>
            <a:ext cx="2103120" cy="14630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15240">
            <a:solidFill>
              <a:srgbClr val="28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30952" y="2523744"/>
            <a:ext cx="274320" cy="274320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250545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取证固证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035808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远程取证·工件
证据文件化</a:t>
            </a:r>
          </a:p>
        </p:txBody>
      </p:sp>
      <p:sp>
        <p:nvSpPr>
          <p:cNvPr id="19" name="Chevron 18"/>
          <p:cNvSpPr/>
          <p:nvPr/>
        </p:nvSpPr>
        <p:spPr>
          <a:xfrm>
            <a:off x="7287768" y="2999232"/>
            <a:ext cx="237744" cy="219456"/>
          </a:xfrm>
          <a:prstGeom prst="chevron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25512" y="2377440"/>
            <a:ext cx="2103120" cy="14630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15240">
            <a:solidFill>
              <a:srgbClr val="C777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71816" y="2523744"/>
            <a:ext cx="274320" cy="274320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6" y="250545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处置响应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0104" y="3035808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处置编排·逐目标
执行与回报</a:t>
            </a:r>
          </a:p>
        </p:txBody>
      </p:sp>
      <p:sp>
        <p:nvSpPr>
          <p:cNvPr id="24" name="Chevron 23"/>
          <p:cNvSpPr/>
          <p:nvPr/>
        </p:nvSpPr>
        <p:spPr>
          <a:xfrm>
            <a:off x="9628632" y="2999232"/>
            <a:ext cx="237744" cy="219456"/>
          </a:xfrm>
          <a:prstGeom prst="chevron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66376" y="2377440"/>
            <a:ext cx="2103120" cy="14630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15240">
            <a:solidFill>
              <a:srgbClr val="C8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12680" y="2523744"/>
            <a:ext cx="274320" cy="274320"/>
          </a:xfrm>
          <a:prstGeom prst="ellipse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250545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审计追溯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0968" y="3035808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全程操作留痕
可复核可追责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4224528"/>
            <a:ext cx="9628632" cy="658368"/>
          </a:xfrm>
          <a:prstGeom prst="roundRect">
            <a:avLst>
              <a:gd name="adj" fmla="val 28000"/>
            </a:avLst>
          </a:prstGeom>
          <a:solidFill>
            <a:srgbClr val="0E1D31"/>
          </a:solidFill>
          <a:ln w="15240">
            <a:solidFill>
              <a:srgbClr val="20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370832"/>
            <a:ext cx="96286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0BDE6"/>
                </a:solidFill>
                <a:latin typeface="微软雅黑"/>
                <a:ea typeface="微软雅黑"/>
                <a:cs typeface="微软雅黑"/>
              </a:rPr>
              <a:t>案件 CASE —— 攻击事实、证据、IOC、取证任务、处置动作、AI 分析的统一载体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54480" y="3840480"/>
            <a:ext cx="0" cy="384048"/>
          </a:xfrm>
          <a:prstGeom prst="line">
            <a:avLst/>
          </a:prstGeom>
          <a:ln w="12700">
            <a:solidFill>
              <a:srgbClr val="1B2B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95344" y="3840480"/>
            <a:ext cx="0" cy="384048"/>
          </a:xfrm>
          <a:prstGeom prst="line">
            <a:avLst/>
          </a:prstGeom>
          <a:ln w="12700">
            <a:solidFill>
              <a:srgbClr val="1B2B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236208" y="3840480"/>
            <a:ext cx="0" cy="384048"/>
          </a:xfrm>
          <a:prstGeom prst="line">
            <a:avLst/>
          </a:prstGeom>
          <a:ln w="12700">
            <a:solidFill>
              <a:srgbClr val="1B2B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7072" y="3840480"/>
            <a:ext cx="0" cy="384048"/>
          </a:xfrm>
          <a:prstGeom prst="line">
            <a:avLst/>
          </a:prstGeom>
          <a:ln w="12700">
            <a:solidFill>
              <a:srgbClr val="1B2B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917936" y="3840480"/>
            <a:ext cx="0" cy="384048"/>
          </a:xfrm>
          <a:prstGeom prst="line">
            <a:avLst/>
          </a:prstGeom>
          <a:ln w="12700">
            <a:solidFill>
              <a:srgbClr val="1B2B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280160" y="5138928"/>
            <a:ext cx="9628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处置结果与审计结论回流案件,驱动风险再评估 —— 闭环持续运转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5623560"/>
            <a:ext cx="3776472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A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5715000"/>
            <a:ext cx="3776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A99F"/>
                </a:solidFill>
                <a:latin typeface="微软雅黑"/>
                <a:ea typeface="微软雅黑"/>
                <a:cs typeface="微软雅黑"/>
              </a:rPr>
              <a:t>AI 辅助研判 贯穿全流程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ARCHITECTURE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产品整体架构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终端 Agent 采集行为遥测,平台层统一分析与运营,管控层保障规模化操作可控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56231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管控层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554480"/>
            <a:ext cx="9866376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70078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访问控制 DAC · 审计中心 · 用户与角色 · 策略配置下发 · 命令执行记录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084831"/>
            <a:ext cx="9326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每一次操作可授权、可复核、可追溯</a:t>
            </a:r>
          </a:p>
        </p:txBody>
      </p:sp>
      <p:sp>
        <p:nvSpPr>
          <p:cNvPr id="10" name="Up Arrow 9"/>
          <p:cNvSpPr/>
          <p:nvPr/>
        </p:nvSpPr>
        <p:spPr>
          <a:xfrm>
            <a:off x="5852160" y="2487168"/>
            <a:ext cx="219456" cy="201168"/>
          </a:xfrm>
          <a:prstGeom prst="up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2688336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9900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能力层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2688336"/>
            <a:ext cx="9866376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283464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攻击溯源 · 情报中心 IOC · 调查取证 · 处置响应 · AI 运维 · 安全基线 · 漏洞防护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18688"/>
            <a:ext cx="9326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以案件为中心的安全运营能力矩阵</a:t>
            </a:r>
          </a:p>
        </p:txBody>
      </p:sp>
      <p:sp>
        <p:nvSpPr>
          <p:cNvPr id="16" name="Up Arrow 15"/>
          <p:cNvSpPr/>
          <p:nvPr/>
        </p:nvSpPr>
        <p:spPr>
          <a:xfrm>
            <a:off x="5852160" y="3621024"/>
            <a:ext cx="219456" cy="201168"/>
          </a:xfrm>
          <a:prstGeom prst="up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" y="3822191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12394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3822191"/>
            <a:ext cx="9866376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968496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Velociraptor datastore · 行为遥测 · 攻击证据 · 取证工件 · 处置回执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352544"/>
            <a:ext cx="9326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证据同源存储,支撑关联分析与回放</a:t>
            </a:r>
          </a:p>
        </p:txBody>
      </p:sp>
      <p:sp>
        <p:nvSpPr>
          <p:cNvPr id="22" name="Up Arrow 21"/>
          <p:cNvSpPr/>
          <p:nvPr/>
        </p:nvSpPr>
        <p:spPr>
          <a:xfrm>
            <a:off x="5852160" y="4754879"/>
            <a:ext cx="219456" cy="201168"/>
          </a:xfrm>
          <a:prstGeom prst="up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80" y="4956048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257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终端层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40" y="4956048"/>
            <a:ext cx="9866376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5102352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Windows · Linux 终端 Agent(EDR Sensor)· 进程/文件/网络/注册表行为采集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486400"/>
            <a:ext cx="9326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覆盖服务器与办公终端的遥测触手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CAPABILITY MAP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产品能力地图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九大能力域,覆盖终端安全运营完整生命周期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64008" cy="1426464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0078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攻击溯源</a:t>
            </a:r>
            <a:r>
              <a:rPr sz="9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  ATTACK 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21408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攻击概览·工作流·图谱·故事线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1554480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1104" y="1554480"/>
            <a:ext cx="64008" cy="1426464"/>
          </a:xfrm>
          <a:prstGeom prst="rect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70078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情报中心</a:t>
            </a:r>
            <a:r>
              <a:rPr sz="950" b="1">
                <a:solidFill>
                  <a:srgbClr val="1AA99F"/>
                </a:solidFill>
                <a:latin typeface="Consolas"/>
                <a:ea typeface="Consolas"/>
                <a:cs typeface="Consolas"/>
              </a:rPr>
              <a:t>  IOC INTEL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121408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IOC 提取·预检·定位·关系扩展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7" y="1554480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7" y="1554480"/>
            <a:ext cx="64008" cy="1426464"/>
          </a:xfrm>
          <a:prstGeom prst="rect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70078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调查取证</a:t>
            </a:r>
            <a:r>
              <a:rPr sz="95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  FORENSICS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121408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远程取证·232 工件·结果下载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127248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127248"/>
            <a:ext cx="64008" cy="1426464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27355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处置响应</a:t>
            </a:r>
            <a:r>
              <a:rPr sz="950" b="1">
                <a:solidFill>
                  <a:srgbClr val="C77736"/>
                </a:solidFill>
                <a:latin typeface="Consolas"/>
                <a:ea typeface="Consolas"/>
                <a:cs typeface="Consolas"/>
              </a:rPr>
              <a:t> 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694176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处置编排·进程/文件/网络动作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3127248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3127248"/>
            <a:ext cx="64008" cy="1426464"/>
          </a:xfrm>
          <a:prstGeom prst="rect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7136" y="327355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AI 运维</a:t>
            </a:r>
            <a:r>
              <a:rPr sz="950" b="1">
                <a:solidFill>
                  <a:srgbClr val="9A7FD8"/>
                </a:solidFill>
                <a:latin typeface="Consolas"/>
                <a:ea typeface="Consolas"/>
                <a:cs typeface="Consolas"/>
              </a:rPr>
              <a:t>  AI 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694176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攻击链总结·威胁指标·处置建议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0727" y="3127248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0727" y="3127248"/>
            <a:ext cx="64008" cy="1426464"/>
          </a:xfrm>
          <a:prstGeom prst="rect">
            <a:avLst/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327355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安全基线</a:t>
            </a:r>
            <a:r>
              <a:rPr sz="950" b="1">
                <a:solidFill>
                  <a:srgbClr val="35B26F"/>
                </a:solidFill>
                <a:latin typeface="Consolas"/>
                <a:ea typeface="Consolas"/>
                <a:cs typeface="Consolas"/>
              </a:rPr>
              <a:t> 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3694176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基线定义·下发·合规检查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700016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700016"/>
            <a:ext cx="64008" cy="1426464"/>
          </a:xfrm>
          <a:prstGeom prst="rect">
            <a:avLst/>
          </a:prstGeom>
          <a:solidFill>
            <a:srgbClr val="D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846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漏洞防护</a:t>
            </a:r>
            <a:r>
              <a:rPr sz="950" b="1">
                <a:solidFill>
                  <a:srgbClr val="D8A04A"/>
                </a:solidFill>
                <a:latin typeface="Consolas"/>
                <a:ea typeface="Consolas"/>
                <a:cs typeface="Consolas"/>
              </a:rPr>
              <a:t>  VULNERABILITY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5266944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漏洞概览·补丁修复·状态验证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61104" y="4700016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61104" y="4700016"/>
            <a:ext cx="64008" cy="1426464"/>
          </a:xfrm>
          <a:prstGeom prst="rect">
            <a:avLst/>
          </a:prstGeom>
          <a:solidFill>
            <a:srgbClr val="5E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846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主机与资产</a:t>
            </a:r>
            <a:r>
              <a:rPr sz="950" b="1">
                <a:solidFill>
                  <a:srgbClr val="5EA8A0"/>
                </a:solidFill>
                <a:latin typeface="Consolas"/>
                <a:ea typeface="Consolas"/>
                <a:cs typeface="Consolas"/>
              </a:rPr>
              <a:t>  ASSETS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5266944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可信接入·硬件指纹·软件清单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0727" y="4700016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10727" y="4700016"/>
            <a:ext cx="64008" cy="1426464"/>
          </a:xfrm>
          <a:prstGeom prst="rect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59" y="4846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控制与审计</a:t>
            </a:r>
            <a:r>
              <a:rPr sz="950" b="1">
                <a:solidFill>
                  <a:srgbClr val="C84455"/>
                </a:solidFill>
                <a:latin typeface="Consolas"/>
                <a:ea typeface="Consolas"/>
                <a:cs typeface="Consolas"/>
              </a:rPr>
              <a:t>  CONTROL &amp; 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59" y="5266944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访问控制·配置下发·全程留痕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TRUSTED ONBOARDING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终端可信接入:先审批,再纳管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组织结构可编排,主机接入需审批 —— 只有可信终端才能进入运营视野</a:t>
            </a:r>
          </a:p>
        </p:txBody>
      </p:sp>
      <p:pic>
        <p:nvPicPr>
          <p:cNvPr id="5" name="Picture 4" descr="hostapprove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4542"/>
            <a:ext cx="7589520" cy="3791795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8183879" y="1481328"/>
            <a:ext cx="3593592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39327" y="1636776"/>
            <a:ext cx="256032" cy="256032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05088" y="1609344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组织结构编排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5088" y="1956816"/>
            <a:ext cx="29992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公司·部门·逻辑组三级结构,支持 YAML 批量导入与拖拽维护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871216"/>
            <a:ext cx="3593592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39327" y="3026664"/>
            <a:ext cx="256032" cy="256032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99923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主机审批纳管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346704"/>
            <a:ext cx="29992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新终端上线先审批,按逻辑组、负责人、心跳状态筛选管理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4261104"/>
            <a:ext cx="3593592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39327" y="4416552"/>
            <a:ext cx="256032" cy="256032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891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资产身份锚定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4736592"/>
            <a:ext cx="29992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主机名·IP·MAC·操作系统全登记,未分组/无负责人主机一目了然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HOSTS &amp; ASSETS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主机与资产:安全运营的底座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主机在线状态、硬件指纹、软件清单统一登记 —— 资产与风险、IOC、取证、处置全面关联</a:t>
            </a:r>
          </a:p>
        </p:txBody>
      </p:sp>
      <p:pic>
        <p:nvPicPr>
          <p:cNvPr id="5" name="Picture 4" descr="host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7654"/>
            <a:ext cx="7589520" cy="3791795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8183879" y="1371600"/>
            <a:ext cx="35935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1371600"/>
            <a:ext cx="64008" cy="1188720"/>
          </a:xfrm>
          <a:prstGeom prst="rect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49047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硬件资产 · 按型号指纹聚合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1847088"/>
            <a:ext cx="327355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CPU·主板·显卡·磁盘·内存·网卡 6 大类；54 个型号 / 100 台设备；型号指纹可反查关联主机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670048"/>
            <a:ext cx="35935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2670048"/>
            <a:ext cx="64008" cy="1188720"/>
          </a:xfrm>
          <a:prstGeom prst="rect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788920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软件资产 · 全量安装清单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145536"/>
            <a:ext cx="327355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22 款软件 / 12 家厂商；名称·版本·安装路径·官网全登记；EDR Sensor 自身亦在册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968496"/>
            <a:ext cx="35935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3968496"/>
            <a:ext cx="64008" cy="1188720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4087368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资产即风险上下文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4443983"/>
            <a:ext cx="327355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资产与漏洞、基线、攻击案件、IOC 直接关联 —— 受影响范围随查随得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532120"/>
            <a:ext cx="1764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97880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纳管主机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22576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22576" y="5532120"/>
            <a:ext cx="1764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22576" y="5897880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在线终端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3672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3672" y="5532120"/>
            <a:ext cx="1764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54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3672" y="5897880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硬件型号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5532120"/>
            <a:ext cx="1764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5897880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硬件设备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5863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55863" y="5532120"/>
            <a:ext cx="1764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55863" y="5897880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软件资产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59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59" y="5532120"/>
            <a:ext cx="1764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59" y="5897880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软件厂商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35B26F"/>
                </a:solidFill>
                <a:latin typeface="Consolas"/>
                <a:ea typeface="Consolas"/>
                <a:cs typeface="Consolas"/>
              </a:rPr>
              <a:t>SECURITY BASELINE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安全基线:把风险治理前移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合规率、风险分布、分类统计一屏掌握 —— 不等攻击发生,先消除配置隐患</a:t>
            </a:r>
          </a:p>
        </p:txBody>
      </p:sp>
      <p:pic>
        <p:nvPicPr>
          <p:cNvPr id="5" name="Picture 4" descr="baseline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合规概览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合规率 79.86%,417 检查项全覆盖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风险分级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高/中/低风险分布,7 项高风险优先治理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分类统计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账户策略/管理模板等分类合规度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一键治理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支持立即扫描与一键修复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BASELINE DEFINE &amp; DISPATCH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基线定义、下发与偏差定位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从模板选检查项,按组织树精准下发,偏差主机逐台定位</a:t>
            </a:r>
          </a:p>
        </p:txBody>
      </p:sp>
      <p:pic>
        <p:nvPicPr>
          <p:cNvPr id="5" name="Picture 4" descr="baseline-define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87007"/>
            <a:ext cx="5669280" cy="2832425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pic>
        <p:nvPicPr>
          <p:cNvPr id="6" name="Picture 5" descr="baseline-dispatch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87007"/>
            <a:ext cx="5669280" cy="2832425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7" name="Rounded Rectangle 6"/>
          <p:cNvSpPr/>
          <p:nvPr/>
        </p:nvSpPr>
        <p:spPr>
          <a:xfrm>
            <a:off x="411480" y="4526280"/>
            <a:ext cx="5669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① 定义基线:系统模板 417 项检查,勾选 26 项生成自定义基线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526280"/>
            <a:ext cx="5669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② 基线下发:扫描计划 + 组织树选目标主机,一键下发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029200"/>
            <a:ext cx="11375136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5230368"/>
            <a:ext cx="256032" cy="256032"/>
          </a:xfrm>
          <a:prstGeom prst="ellipse">
            <a:avLst/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1389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偏差详情可下钻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50468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每个检查项给出说明、推荐值、检测方式(secedit/注册表路径)与参考文档;影响主机列表逐台标注合规状态 —— 例:「允许管理员账户锁定」1 台主机不合规,直接定位到 Windows 11 Pro 目标机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77736"/>
                </a:solidFill>
                <a:latin typeface="Consolas"/>
                <a:ea typeface="Consolas"/>
                <a:cs typeface="Consolas"/>
              </a:rPr>
              <a:t>VULNERABILITY &amp; PATCH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漏洞防护:看得见的修复进度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Windows / Linux 双平台漏洞与补丁统一视图,高风险主机优先排序</a:t>
            </a:r>
          </a:p>
        </p:txBody>
      </p:sp>
      <p:pic>
        <p:nvPicPr>
          <p:cNvPr id="5" name="Picture 4" descr="patch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补丁总览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10 个补丁·已装 8·未装 2·失败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等级分布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关键 5 / 重要 4 / 低 1,按严重度排序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风险主机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高风险主机 TOP 榜,精确到缺失补丁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覆盖趋势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主机安装覆盖率 66.67% 持续跟踪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PATCH REMEDIATION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修复任务:从补丁详情到结果验证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逐补丁、逐主机的安装状态追踪,修复结果可验证</a:t>
            </a:r>
          </a:p>
        </p:txBody>
      </p:sp>
      <p:pic>
        <p:nvPicPr>
          <p:cNvPr id="5" name="Picture 4" descr="patch-detail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6231"/>
            <a:ext cx="5029200" cy="4071257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pic>
        <p:nvPicPr>
          <p:cNvPr id="6" name="Picture 5" descr="patch-install-status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024" y="1371600"/>
            <a:ext cx="6131270" cy="306324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7" name="Rounded Rectangle 6"/>
          <p:cNvSpPr/>
          <p:nvPr/>
        </p:nvSpPr>
        <p:spPr>
          <a:xfrm>
            <a:off x="5623560" y="4572000"/>
            <a:ext cx="61722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468172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修复任务全周期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安装任务支持立即执行 / 随机延迟 / 安装后重启 / 修复前备份等策略;总体进度按主机统计,失败任务精确到原因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71500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需安装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55648" y="571500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待处理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54096" y="571500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571500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已安装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5742432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补丁状态机:每台主机的每个补丁都有明确状态与覆盖率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7736"/>
                </a:solidFill>
                <a:latin typeface="Consolas"/>
                <a:ea typeface="Consolas"/>
                <a:cs typeface="Consolas"/>
              </a:rPr>
              <a:t>02 /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2860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攻击溯源</a:t>
            </a:r>
          </a:p>
          <a:p>
            <a:pPr algn="l"/>
            <a:r>
              <a:rPr sz="2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将告警还原为攻击事实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977639"/>
            <a:ext cx="2286000" cy="36576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20624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攻击概览 · 案件工作流 · ATT&amp;CK 映射 · 攻击关系图谱</a:t>
            </a:r>
          </a:p>
          <a:p>
            <a:pPr algn="l"/>
            <a:r>
              <a:rPr sz="1300" b="0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节点详情下钻 · 攻击故事时间线 · IOC 提取预检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C77736"/>
                </a:solidFill>
                <a:latin typeface="Consolas"/>
                <a:ea typeface="Consolas"/>
                <a:cs typeface="Consolas"/>
              </a:rPr>
              <a:t>ATTACK TRACE &amp; INVESTIGATION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ATTACK OVERVIEW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攻击概览:全网攻击态势一屏掌握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涉及规则、攻击活动、受影响主机、ATT&amp;CK TOP10 —— 风险从宏观到具体</a:t>
            </a:r>
          </a:p>
        </p:txBody>
      </p:sp>
      <p:pic>
        <p:nvPicPr>
          <p:cNvPr id="5" name="Picture 4" descr="attack-dash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攻击规模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216 条涉及规则·581 次攻击活动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影响面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7 台受影响主机,安全等级实时评估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阶段分布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Stage 主机分布图定位攻击阶段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双 TOP10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ATT&amp;CK 技术与风险主机双排行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AA99F"/>
                </a:solidFill>
                <a:latin typeface="Consolas"/>
                <a:ea typeface="Consolas"/>
                <a:cs typeface="Consolas"/>
              </a:rPr>
              <a:t>CASE WORKFLOW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案件工作流:每个攻击案件都有生命周期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发现 → 调查 → 取证 → 处置 → 关闭,阶段流转全程留痕</a:t>
            </a:r>
          </a:p>
        </p:txBody>
      </p:sp>
      <p:pic>
        <p:nvPicPr>
          <p:cNvPr id="5" name="Picture 4" descr="attack-workflow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385955" y="1829485"/>
            <a:ext cx="5822876" cy="623392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1AA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工作流队列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346 个案件按状态/严重性筛选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阶段推进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当前案件处于处置阶段,进度可视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动作建议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每阶段给出处置建议与检查清单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事件留痕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阶段流转、操作人、时间全记录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MITRE ATT&amp;CK MAPPING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ATT&amp;CK 映射:攻击行为对号入座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14 个战术阶段全映射,每个阶段的技术、主机、证据数清晰可见</a:t>
            </a:r>
          </a:p>
        </p:txBody>
      </p:sp>
      <p:pic>
        <p:nvPicPr>
          <p:cNvPr id="5" name="Picture 4" descr="attck-all-details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战术覆盖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初始访问 11·执行 9·持久化 53·防御规避 512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场景列表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攻击场景按阶段聚合,可逐条下钻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证据计数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每个场景标注规则/主机/实例/事件数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技术定位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ATT&amp;CK 技术编号精确到 T 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ATTACK RELATION GRAPH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攻击关系图谱:一张图还原攻击全貌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进程、文件、IP、主机的行为关系可视化 —— 研判、事实、怀疑、待证四层结论同步给出</a:t>
            </a:r>
          </a:p>
        </p:txBody>
      </p:sp>
      <p:pic>
        <p:nvPicPr>
          <p:cNvPr id="5" name="Picture 4" descr="attack-graph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2629849" y="1552422"/>
            <a:ext cx="7856261" cy="1246784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20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76063" y="2960827"/>
            <a:ext cx="5406956" cy="2770632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C777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四层研判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当前研判/已确认事实/攻击怀疑/待补充证据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关系图谱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7 节点 6 边:winword 为中心的攻击链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节点下钻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点击节点查看进程与签名校验详情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动作直达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图谱内直接发起 IOC 预检与处置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NODE DEEP-DIVE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节点详情下钻:每个实体都有档案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从图谱节点到进程档案 —— 命令行、哈希、签名状态全部可验证</a:t>
            </a:r>
          </a:p>
        </p:txBody>
      </p:sp>
      <p:pic>
        <p:nvPicPr>
          <p:cNvPr id="5" name="Picture 4" descr="zoom-graph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59602"/>
            <a:ext cx="4206240" cy="4504554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1359602"/>
            <a:ext cx="4206240" cy="4504554"/>
          </a:xfrm>
          <a:prstGeom prst="roundRect">
            <a:avLst>
              <a:gd name="adj" fmla="val 3000"/>
            </a:avLst>
          </a:prstGeom>
          <a:noFill/>
          <a:ln w="17780">
            <a:solidFill>
              <a:srgbClr val="20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oom-graph-canv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598" y="1325880"/>
            <a:ext cx="5929162" cy="329184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8" name="Rounded Rectangle 7"/>
          <p:cNvSpPr/>
          <p:nvPr/>
        </p:nvSpPr>
        <p:spPr>
          <a:xfrm>
            <a:off x="6160591" y="2488265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0591" y="2529413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winword.exe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4617720" y="2643713"/>
            <a:ext cx="1542871" cy="742939"/>
          </a:xfrm>
          <a:prstGeom prst="line">
            <a:avLst/>
          </a:prstGeom>
          <a:ln w="17780">
            <a:solidFill>
              <a:srgbClr val="20BDE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892040" y="4800600"/>
            <a:ext cx="237744" cy="237744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4782312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EEF6"/>
                </a:solidFill>
                <a:latin typeface="Consolas"/>
                <a:ea typeface="Consolas"/>
                <a:cs typeface="Consolas"/>
              </a:rPr>
              <a:t>Process Information  </a:t>
            </a: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PID 3952 · 进程路径 · 完整命令行(含远控 URL 参数)</a:t>
            </a:r>
          </a:p>
        </p:txBody>
      </p:sp>
      <p:sp>
        <p:nvSpPr>
          <p:cNvPr id="13" name="Oval 12"/>
          <p:cNvSpPr/>
          <p:nvPr/>
        </p:nvSpPr>
        <p:spPr>
          <a:xfrm>
            <a:off x="4892040" y="5367528"/>
            <a:ext cx="237744" cy="237744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5349240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EEF6"/>
                </a:solidFill>
                <a:latin typeface="Consolas"/>
                <a:ea typeface="Consolas"/>
                <a:cs typeface="Consolas"/>
              </a:rPr>
              <a:t>Security Information  </a:t>
            </a: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Signature: unsigned 未签名 · Show Window: hidden 隐藏窗口</a:t>
            </a:r>
          </a:p>
        </p:txBody>
      </p:sp>
      <p:sp>
        <p:nvSpPr>
          <p:cNvPr id="15" name="Oval 14"/>
          <p:cNvSpPr/>
          <p:nvPr/>
        </p:nvSpPr>
        <p:spPr>
          <a:xfrm>
            <a:off x="4892040" y="5934456"/>
            <a:ext cx="237744" cy="237744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5916168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EEF6"/>
                </a:solidFill>
                <a:latin typeface="Consolas"/>
                <a:ea typeface="Consolas"/>
                <a:cs typeface="Consolas"/>
              </a:rPr>
              <a:t>身份锚点  </a:t>
            </a: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MD5 · GUID · Agent ID · 发生时间 · Session 全记录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AA99F"/>
                </a:solidFill>
                <a:latin typeface="Consolas"/>
                <a:ea typeface="Consolas"/>
                <a:cs typeface="Consolas"/>
              </a:rPr>
              <a:t>ATTACK STORY &amp; TIMELINE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攻击故事:12 秒,看清攻击全过程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按时间顺序还原每一步行为 —— 谁启动了谁、写了什么文件、连了哪个 IP</a:t>
            </a:r>
          </a:p>
        </p:txBody>
      </p:sp>
      <p:pic>
        <p:nvPicPr>
          <p:cNvPr id="5" name="Picture 4" descr="attack-story.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故事梗概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一句话还原完整攻击链:cmd→winword→DLL→calc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行为时间线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11:55:55→11:56:07 每步精确到秒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阶段标注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每步行为标注防御规避等攻击阶段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证据绑定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T1205/T1105 等 ATT&amp;CK 技术逐项关联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IOC EXTRACTION &amp; PRE-CHECK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IOC:从案件证据中自动提炼攻击指标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图谱一键提取 IOC,本地预检 + 情报判定 —— 恶意、未知、放行当场分晓</a:t>
            </a:r>
          </a:p>
        </p:txBody>
      </p:sp>
      <p:pic>
        <p:nvPicPr>
          <p:cNvPr id="5" name="Picture 4" descr="attack-graph-c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44166"/>
            <a:ext cx="5715000" cy="2855267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pic>
        <p:nvPicPr>
          <p:cNvPr id="6" name="Picture 5" descr="attack-case-ioc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89850"/>
            <a:ext cx="5532120" cy="2763899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7" name="Rounded Rectangle 6"/>
          <p:cNvSpPr/>
          <p:nvPr/>
        </p:nvSpPr>
        <p:spPr>
          <a:xfrm>
            <a:off x="411480" y="4663440"/>
            <a:ext cx="5715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① 图谱内自动提取 4 个 IOC:IP·MD5×3,AI 辅助分析来源可溯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663440"/>
            <a:ext cx="5532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② 情报验证:5 个 IOC 预检完成 —— 1 恶意·1 异常·1 放行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138928"/>
            <a:ext cx="11375136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24865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判定依据全透明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本地情报命中 + 联网威胁情报(hybrid_analysis 等)双重校验;每个 IOC 带置信度(80%)、白名单状态与判定标签;支持人工补充 IOC 一并预检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IOC LOCATION &amp; EXPANSION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IOC 定位:一个指标,看清整个影响面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本地事件反查 + 定位图谱 —— 这个 MD5 在哪些主机、哪些进程里出现过</a:t>
            </a:r>
          </a:p>
        </p:txBody>
      </p:sp>
      <p:pic>
        <p:nvPicPr>
          <p:cNvPr id="5" name="Picture 4" descr="ioc-locate-c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67026"/>
            <a:ext cx="5715000" cy="2855267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pic>
        <p:nvPicPr>
          <p:cNvPr id="6" name="Picture 5" descr="ioc-locate-c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12710"/>
            <a:ext cx="5532120" cy="2763899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7" name="Rounded Rectangle 6"/>
          <p:cNvSpPr/>
          <p:nvPr/>
        </p:nvSpPr>
        <p:spPr>
          <a:xfrm>
            <a:off x="411480" y="4800600"/>
            <a:ext cx="2167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892040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C84455"/>
                </a:solidFill>
                <a:latin typeface="微软雅黑"/>
                <a:ea typeface="微软雅黑"/>
                <a:cs typeface="微软雅黑"/>
              </a:rPr>
              <a:t>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24865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风险分·高危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4800600"/>
            <a:ext cx="2167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4892040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C77736"/>
                </a:solidFill>
                <a:latin typeface="微软雅黑"/>
                <a:ea typeface="微软雅黑"/>
                <a:cs typeface="微软雅黑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524865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置信度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4800600"/>
            <a:ext cx="2167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8344" y="4892040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87FC2"/>
                </a:solidFill>
                <a:latin typeface="微软雅黑"/>
                <a:ea typeface="微软雅黑"/>
                <a:cs typeface="微软雅黑"/>
              </a:rPr>
              <a:t>已命中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524865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本地情报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1775" y="4800600"/>
            <a:ext cx="2167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4892040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AA99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775" y="524865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本地命中事件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65207" y="4800600"/>
            <a:ext cx="2167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7" y="4892040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0BDE6"/>
                </a:solidFill>
                <a:latin typeface="微软雅黑"/>
                <a:ea typeface="微软雅黑"/>
                <a:cs typeface="微软雅黑"/>
              </a:rPr>
              <a:t>已生成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7" y="524865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定位图谱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760720"/>
            <a:ext cx="113751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定位图谱复用攻击图谱能力:IOC 关联的进程、文件、IP 以关系图呈现,节点详情同样可下钻 —— 情报、案件、取证在同一套证据体系里流转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CASE-DRIVEN FORENSICS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调查取证:从案件上下文直接发起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基于 Velociraptor 的远程取证能力 —— 取证状态、后端健康度、任务进度统一可视</a:t>
            </a:r>
          </a:p>
        </p:txBody>
      </p:sp>
      <p:pic>
        <p:nvPicPr>
          <p:cNvPr id="5" name="Picture 4" descr="attack-case-forensic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取证状态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1 台可下发终端·24 个可用工件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后端监控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Velociraptor 运行中,CPU/内存/存储可视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任务追踪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Prefetch·NTUser·RDP 等工件执行中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数据存储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数据存储用量 39%,证据落盘可查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ARTIFACTS &amp; TASKS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取证工件:232 个工件,开箱即用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Velociraptor 工件生态完整复用 —— 选终端、选工件、配参数、下发任务、下载结果</a:t>
            </a:r>
          </a:p>
        </p:txBody>
      </p:sp>
      <p:pic>
        <p:nvPicPr>
          <p:cNvPr id="5" name="Picture 4" descr="artifact-config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44166"/>
            <a:ext cx="5715000" cy="2855267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pic>
        <p:nvPicPr>
          <p:cNvPr id="6" name="Picture 5" descr="forensic-center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89850"/>
            <a:ext cx="5532120" cy="2763899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7" name="Rounded Rectangle 6"/>
          <p:cNvSpPr/>
          <p:nvPr/>
        </p:nvSpPr>
        <p:spPr>
          <a:xfrm>
            <a:off x="411480" y="4663440"/>
            <a:ext cx="5715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① 工件配置:232 个工件 / 30 分类,按平台筛选启用,说明与性能提示齐全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663440"/>
            <a:ext cx="5532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② 取证中心:目标终端 + 工件参数(Accessor/Glob/Root)配置下发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138928"/>
            <a:ext cx="11375136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24865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任务全生命周期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任务列表展示运行状态、Flow ID、工件类型与完成时间;成功任务直接下载结果文件;任务可关联案件 ID,取证结论自动归入案件证据链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77736"/>
                </a:solidFill>
                <a:latin typeface="Consolas"/>
                <a:ea typeface="Consolas"/>
                <a:cs typeface="Consolas"/>
              </a:rPr>
              <a:t>RESPONSE ORCHESTRATION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处置响应:把分析结论转化为行动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处置目标复核 → 动作参数配置 → 提交执行,三步完成一次精准处置</a:t>
            </a:r>
          </a:p>
        </p:txBody>
      </p:sp>
      <p:pic>
        <p:nvPicPr>
          <p:cNvPr id="5" name="Picture 4" descr="attack-case-response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目标复核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calc.exe 结束进程,目标信息完整核对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参数配置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终止子进程/强制结束等行为参数化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提交检查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可提交 1·需处理 0,冲突自动检测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执行追踪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逐目标状态:成功/超时/失败与备注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77736"/>
                </a:solidFill>
                <a:latin typeface="Consolas"/>
                <a:ea typeface="Consolas"/>
                <a:cs typeface="Consolas"/>
              </a:rPr>
              <a:t>RESPONSE TRACKING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处置追踪:每个动作都有回执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处置单维度统计 + 逐主机执行结果 —— 成功、失败、未确认一目了然</a:t>
            </a:r>
          </a:p>
        </p:txBody>
      </p:sp>
      <p:pic>
        <p:nvPicPr>
          <p:cNvPr id="5" name="Picture 4" descr="remediation-overview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处置总览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处置单 1·涉及主机 1·需关注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类型分布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进程 2·文件 2·网络阻断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逐目标结果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删除文件/网络阻断/结束进程全留痕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结果确认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Authoritative Mitigation Report 确认机制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9A7FD8"/>
                </a:solidFill>
                <a:latin typeface="Consolas"/>
                <a:ea typeface="Consolas"/>
                <a:cs typeface="Consolas"/>
              </a:rPr>
              <a:t>AI THREAT ANALYSIS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AI 威胁分析:证据自动汇总为结构化结论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执行摘要 + 攻击链还原 + 置信度标注 —— AI 辅助研判,结论均可追溯证据</a:t>
            </a:r>
          </a:p>
        </p:txBody>
      </p:sp>
      <p:pic>
        <p:nvPicPr>
          <p:cNvPr id="5" name="Picture 4" descr="ai-analysis-c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总体判断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风险等级 严重·置信度 85%·4 攻击阶段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攻击链路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4 步行为序列,每步带关联证据数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证据校验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30 条证据逐条校验,通过 2 条关键证据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模型透明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deepseek-v4-flash·17.1s 完成分析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9A7FD8"/>
                </a:solidFill>
                <a:latin typeface="Consolas"/>
                <a:ea typeface="Consolas"/>
                <a:cs typeface="Consolas"/>
              </a:rPr>
              <a:t>AI IOC &amp; RECOMMENDATIONS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AI 输出:威胁指标汇总 + 可执行处置建议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6 个威胁指标、1 个受影响资产、4 条处置建议 —— 每条建议都引用证据</a:t>
            </a:r>
          </a:p>
        </p:txBody>
      </p:sp>
      <p:pic>
        <p:nvPicPr>
          <p:cNvPr id="5" name="Picture 4" descr="ai-analysis-c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威胁指标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IP·URL·文件·MD5·进程 6 项 IOC 汇总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受影响资产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精确到主机 ID,5 条关联证据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处置建议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隔离主机/分析 DLL/排查网络连接/审查进程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分析边界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明确给出分析假设与局限说明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ACCESS CONTROL MODEL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控制模型:主体·对象·行为,规则化管控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文件、注册表、进程、网络四类访问策略,按优先级下发到目标主机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策略三元组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2834640" cy="80467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240">
            <a:solidFill>
              <a:srgbClr val="28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87FC2"/>
                </a:solidFill>
                <a:latin typeface="微软雅黑"/>
                <a:ea typeface="微软雅黑"/>
                <a:cs typeface="微软雅黑"/>
              </a:rPr>
              <a:t>访问主体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7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进程路径 /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907791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72384"/>
            <a:ext cx="2834640" cy="80467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240">
            <a:solidFill>
              <a:srgbClr val="1AA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8211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A99F"/>
                </a:solidFill>
                <a:latin typeface="微软雅黑"/>
                <a:ea typeface="微软雅黑"/>
                <a:cs typeface="微软雅黑"/>
              </a:rPr>
              <a:t>保护对象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02152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文件·注册表·进程·网络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87705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41648"/>
            <a:ext cx="2834640" cy="80467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240">
            <a:solidFill>
              <a:srgbClr val="C8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51376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84455"/>
                </a:solidFill>
                <a:latin typeface="微软雅黑"/>
                <a:ea typeface="微软雅黑"/>
                <a:cs typeface="微软雅黑"/>
              </a:rPr>
              <a:t>行为规则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71416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操作类型 + 处理方式 + 审计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优先级 0-255 可调,版本化管理,按组织树精准下发</a:t>
            </a:r>
          </a:p>
        </p:txBody>
      </p:sp>
      <p:pic>
        <p:nvPicPr>
          <p:cNvPr id="19" name="Picture 18" descr="access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578858"/>
            <a:ext cx="7772400" cy="3883163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84455"/>
                </a:solidFill>
                <a:latin typeface="Consolas"/>
                <a:ea typeface="Consolas"/>
                <a:cs typeface="Consolas"/>
              </a:rPr>
              <a:t>AUDIT CENTER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审计中心:安全操作,全程可追溯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下发审计、用户审计、变更审计 —— 每条命令有投递记录、有执行回执</a:t>
            </a:r>
          </a:p>
        </p:txBody>
      </p:sp>
      <p:pic>
        <p:nvPicPr>
          <p:cNvPr id="5" name="Picture 4" descr="audit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下发总览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22 个下发事件·18 命令·4 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异常监控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失败/超时/拒绝 10 项单独归集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逐条回执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操作者、目标数量、执行结果全记录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三类审计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下发/用户/变更,支持导出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7048" y="12344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WHY WATCHPOINT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9811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一个平台,完成终端安全运营的完整闭环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88036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880360"/>
            <a:ext cx="2011680" cy="54864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127248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0BDE6"/>
                </a:solidFill>
                <a:latin typeface="微软雅黑"/>
                <a:ea typeface="微软雅黑"/>
                <a:cs typeface="微软雅黑"/>
              </a:rPr>
              <a:t>看得清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攻击溯源 + 攻击图谱 + 故事线
告警 → 攻击事实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1215" y="288036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71215" y="2880360"/>
            <a:ext cx="2011680" cy="54864"/>
          </a:xfrm>
          <a:prstGeom prst="rect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5" y="3127248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AA99F"/>
                </a:solidFill>
                <a:latin typeface="微软雅黑"/>
                <a:ea typeface="微软雅黑"/>
                <a:cs typeface="微软雅黑"/>
              </a:rPr>
              <a:t>查得准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5" y="3611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IOC 情报 + AI 分析
指标 → 影响范围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288036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4064" y="2880360"/>
            <a:ext cx="2011680" cy="54864"/>
          </a:xfrm>
          <a:prstGeom prst="rect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3127248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87FC2"/>
                </a:solidFill>
                <a:latin typeface="微软雅黑"/>
                <a:ea typeface="微软雅黑"/>
                <a:cs typeface="微软雅黑"/>
              </a:rPr>
              <a:t>拿得到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3611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远程取证 + 工件生态
线索 → 证据文件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288036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96912" y="2880360"/>
            <a:ext cx="2011680" cy="54864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3127248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77736"/>
                </a:solidFill>
                <a:latin typeface="微软雅黑"/>
                <a:ea typeface="微软雅黑"/>
                <a:cs typeface="微软雅黑"/>
              </a:rPr>
              <a:t>处置得了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611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处置编排 + 结果回执
结论 → 响应行动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88036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60" y="2880360"/>
            <a:ext cx="2011680" cy="54864"/>
          </a:xfrm>
          <a:prstGeom prst="rect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3127248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84455"/>
                </a:solidFill>
                <a:latin typeface="微软雅黑"/>
                <a:ea typeface="微软雅黑"/>
                <a:cs typeface="微软雅黑"/>
              </a:rPr>
              <a:t>管得住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611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访问控制 + 全程审计
操作 → 可控可溯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498348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风险治理前移(基线·漏洞)+ 事中精准响应(溯源·IOC·取证·处置)+ 全程可控(控制·审计)</a:t>
            </a:r>
          </a:p>
          <a:p>
            <a:pPr algn="ctr"/>
            <a:r>
              <a:rPr sz="12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这就是 WatchPoint 的终端安全运营答案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828800"/>
            <a:ext cx="731520" cy="4607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7048" y="2743200"/>
            <a:ext cx="9144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让每一次攻击,都有据可查</a:t>
            </a:r>
          </a:p>
          <a:p>
            <a:pPr algn="ctr"/>
            <a:r>
              <a:rPr sz="130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Make Every Attack Traceable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6048" y="4297680"/>
            <a:ext cx="2286000" cy="32004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7048" y="457200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感谢观看 · 期待与您深入交流</a:t>
            </a:r>
          </a:p>
          <a:p>
            <a:pPr algn="ctr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WatchPoint 产品团队 · 产品演示与 POC 支持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